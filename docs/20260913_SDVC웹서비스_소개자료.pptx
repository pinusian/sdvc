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한 줄 메시지: 속도가 아니라 절차를 파는 서비스라는 점을 먼저 각인시킨다.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정의. 청중이 이미 겪어본 일을 짚어 공감을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원인 분석. 다음 장의 해법이 '서버가 대신 지킨다'로 이어지도록 깔아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해법. 왼쪽은 방법론, 오른쪽은 그것을 제품이 어떻게 강제하는지.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6블록. 3·4번의 승인 게이트가 이 제품의 핵심 차별점임을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발표의 중심. 네 축(시간·효율·정확성·유지보수)을 각각 다음 네 장에서 자세히 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시간. 숫자 네 개 중 앞의 하나와 뒤의 하나는 구조적 사실, 가운데 둘은 서비스가 정한 기준값임을 밝힌다.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효율. 네 가지 모두 '되돌아가는 비용'을 줄이는 장치라는 한 줄로 묶는다.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정확성. 마지막 줄이 신뢰의 근거 — 남의 이론이 아니라 우리가 데인 자리에서 나온 기능이다.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유지보수. 경쟁 도구와 가장 크게 벌어지는 지점.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검증. 투자자·파트너에게는 이 장이 가장 중요하다. 숫자는 모두 저장소에서 확인 가능한 값이다.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체계. 투자자 관점에서 '법적·운영 리스크가 이미 다뤄졌다'는 신호.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 구성. 마지막 상자가 중요 — 못 하는 것을 먼저 밝히는 것이 신뢰를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상태. 과장하지 않는다 — 남은 것을 분명히 적는 편이 신뢰를 얻는다.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적합·부적합. 부적합 목록이 오히려 신뢰를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요금 대신 교육 과정 제공으로 안내한다 — 현재 실결제 전이다.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-1371600"/>
            <a:ext cx="4937760" cy="4937760"/>
          </a:xfrm>
          <a:prstGeom prst="ellipse">
            <a:avLst/>
          </a:prstGeom>
          <a:solidFill>
            <a:srgbClr val="1841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200400"/>
            <a:ext cx="3108960" cy="310896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716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FA9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 문서 기반 바이브 코딩  ·  Structured Document &amp; Vibe Coding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830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SDVC 웹서비스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9A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없이.  절차대로.  끝까지.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657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BFD2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하나로 기획부터 배포, 그리고 유지보수까지 —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BFD2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AI와 대화하며 만들되 만드는 순서를 서버가 지켜 줍니다.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4892040"/>
            <a:ext cx="2011680" cy="0"/>
          </a:xfrm>
          <a:prstGeom prst="line">
            <a:avLst/>
          </a:prstGeom>
          <a:noFill/>
          <a:ln w="25400">
            <a:solidFill>
              <a:srgbClr val="4E8A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51206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과정 운영 중  ·  sdvc-app.vercel.app  ·  2026. 09.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1945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5분 만에 만들어 줍니다. 문제는 그다음입니다.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984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"홈페이지 만들어줘" 한마디에 그럴듯한 결과가 즉시 나옵니다. 그런데 실제로 쓰려고 하면 세 가지가 차례로 걸립니다.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3200400" cy="2788920"/>
          </a:xfrm>
          <a:prstGeom prst="roundRect">
            <a:avLst>
              <a:gd name="adj" fmla="val 3279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9264" y="2395728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305409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원하던 게 아니다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3529584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만들지 정하지 않고 시작하니, 다 만든 뒤에야 다르다는 것을 압니다. 되돌아가면 처음부터입니다.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42816" y="2057400"/>
            <a:ext cx="3200400" cy="2788920"/>
          </a:xfrm>
          <a:prstGeom prst="roundRect">
            <a:avLst>
              <a:gd name="adj" fmla="val 3279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2395728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3712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05409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수가 없다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3529584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어디를 왜 그렇게 만들었는지 기록이 없습니다. 한 곳을 고치면 다른 곳이 조용히 깨집니다.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27264" y="2057400"/>
            <a:ext cx="3200400" cy="2788920"/>
          </a:xfrm>
          <a:prstGeom prst="roundRect">
            <a:avLst>
              <a:gd name="adj" fmla="val 3279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395728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0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05409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수가 없다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3529584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"고쳤습니다"라는 답을 받지만 실제로 바뀌었는지는 아무도 확인해 주지 않습니다.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5138928"/>
            <a:ext cx="10874959" cy="1024128"/>
          </a:xfrm>
          <a:prstGeom prst="roundRect">
            <a:avLst>
              <a:gd name="adj" fmla="val 8929"/>
            </a:avLst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24128" y="5138928"/>
            <a:ext cx="1014343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속도는 처음부터 문제가 아니었습니다. 없었던 것은 절차입니다.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1945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바이브 코딩에는 세 개의 구멍이 있습니다.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10874959" cy="1261872"/>
          </a:xfrm>
          <a:prstGeom prst="roundRect">
            <a:avLst>
              <a:gd name="adj" fmla="val 7246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39112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82496" y="18836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절차를 사람이 기억한다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82496" y="230428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방법론 문서를 읽고 스스로 지켜야 합니다. 바쁘면 건너뛰고, 건너뛴 것은 기억나지 않습니다.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" y="3127248"/>
            <a:ext cx="10874959" cy="1261872"/>
          </a:xfrm>
          <a:prstGeom prst="roundRect">
            <a:avLst>
              <a:gd name="adj" fmla="val 7246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52044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82496" y="3364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없이 전진한다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82496" y="3785616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전제가 멈추는 지점이 없습니다. 그대로 코드까지 내려가 나중에 전부 다시 만들게 됩니다.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608576"/>
            <a:ext cx="10874959" cy="1261872"/>
          </a:xfrm>
          <a:prstGeom prst="roundRect">
            <a:avLst>
              <a:gd name="adj" fmla="val 7246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5001768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5001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82496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말과 결과가 어긋나도 모른다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82496" y="526694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AI의 답과 실제 저장된 파일을 맞춰 보는 장치가 없습니다. 사람이 일일이 확인할 수밖에 없습니다.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61996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모두 사람의 성실함에 기대는 구조입니다. 성실함은 바쁠 때 가장 먼저 무너집니다.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1945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먼저 만들고, 그 문서를 근거로 만듭니다.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984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SDVC는 그 순서를 정한 방법론이고, 이 웹서비스는 그 순서를 서버가 대신 들고 있는 구현체입니다.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5029200" cy="4160520"/>
          </a:xfrm>
          <a:prstGeom prst="roundRect">
            <a:avLst>
              <a:gd name="adj" fmla="val 2198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4E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SDVC 7단계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2651760"/>
            <a:ext cx="274320" cy="274320"/>
          </a:xfrm>
          <a:prstGeom prst="ellipse">
            <a:avLst/>
          </a:prstGeom>
          <a:solidFill>
            <a:srgbClr val="4E8A9B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408176" y="2670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헌장 — 지킬 규칙을 정한다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3127248"/>
            <a:ext cx="274320" cy="274320"/>
          </a:xfrm>
          <a:prstGeom prst="ellipse">
            <a:avLst/>
          </a:prstGeom>
          <a:solidFill>
            <a:srgbClr val="4E8A9B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408176" y="31455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명세 — 무엇을 만들지 정한다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3602736"/>
            <a:ext cx="274320" cy="274320"/>
          </a:xfrm>
          <a:prstGeom prst="ellipse">
            <a:avLst/>
          </a:prstGeom>
          <a:solidFill>
            <a:srgbClr val="4E8A9B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408176" y="36210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명확화 — 애매한 것을 없앤다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4078224"/>
            <a:ext cx="274320" cy="274320"/>
          </a:xfrm>
          <a:prstGeom prst="ellipse">
            <a:avLst/>
          </a:prstGeom>
          <a:solidFill>
            <a:srgbClr val="4E8A9B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4096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— 어떻게 만들지 정한다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5840" y="4553712"/>
            <a:ext cx="274320" cy="274320"/>
          </a:xfrm>
          <a:prstGeom prst="ellipse">
            <a:avLst/>
          </a:prstGeom>
          <a:solidFill>
            <a:srgbClr val="4E8A9B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408176" y="4572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분해 — 순서를 정한다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5840" y="5029200"/>
            <a:ext cx="274320" cy="274320"/>
          </a:xfrm>
          <a:prstGeom prst="ellipse">
            <a:avLst/>
          </a:prstGeom>
          <a:solidFill>
            <a:srgbClr val="4E8A9B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408176" y="5047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— 모순을 찾는다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05840" y="5504688"/>
            <a:ext cx="274320" cy="274320"/>
          </a:xfrm>
          <a:prstGeom prst="ellipse">
            <a:avLst/>
          </a:prstGeom>
          <a:solidFill>
            <a:srgbClr val="4E8A9B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408176" y="55229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— 실제로 만든다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71616" y="1874520"/>
            <a:ext cx="5461711" cy="4160520"/>
          </a:xfrm>
          <a:prstGeom prst="roundRect">
            <a:avLst>
              <a:gd name="adj" fmla="val 2198"/>
            </a:avLst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19088" y="2148840"/>
            <a:ext cx="47667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7FA9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서버가 이렇게 지킵니다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19088" y="2697480"/>
            <a:ext cx="310896" cy="310896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9088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2679192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어느 단계인지 서버가 들고 있다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3044952"/>
            <a:ext cx="4327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EC4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요청마다 그 단계의 지시만 AI에게 내려갑니다. 사용자가 절차를 외울 일이 없습니다.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19088" y="3867912"/>
            <a:ext cx="310896" cy="310896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19088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3849624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전에는 전진하지 않는다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4215384"/>
            <a:ext cx="4327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EC4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계획·작업 분해 단계는 사용자가 승인하기 전까지 상태 자체가 넘어가지 않습니다.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19088" y="5038344"/>
            <a:ext cx="310896" cy="310896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19088" y="5038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0" y="5020056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변화를 실제 파일과 맞춰 본다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5385816"/>
            <a:ext cx="4327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EC4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"고쳤다"는데 파일이 그대로면 서버가 사용자에게 알립니다.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1945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흐름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대화는 여섯 개의 블록으로 진행됩니다.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984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어느 블록인지 화면에 항상 표시됩니다. 창을 닫아도 그 자리에서 이어집니다.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1709928" cy="2450592"/>
          </a:xfrm>
          <a:prstGeom prst="roundRect">
            <a:avLst>
              <a:gd name="adj" fmla="val 5348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3876" y="2212848"/>
            <a:ext cx="438912" cy="438912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93876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6148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헌장 + 명세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12724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정하고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만들지 설명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72868" y="2999232"/>
            <a:ext cx="100584" cy="146304"/>
          </a:xfrm>
          <a:prstGeom prst="rightArrow">
            <a:avLst/>
          </a:prstGeom>
          <a:solidFill>
            <a:srgbClr val="D6E0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78024" y="1965960"/>
            <a:ext cx="1709928" cy="2450592"/>
          </a:xfrm>
          <a:prstGeom prst="roundRect">
            <a:avLst>
              <a:gd name="adj" fmla="val 5348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13532" y="2212848"/>
            <a:ext cx="438912" cy="438912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13532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569464" y="276148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명확화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569464" y="312724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애매한 점을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객관식으로 확인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92524" y="2999232"/>
            <a:ext cx="100584" cy="146304"/>
          </a:xfrm>
          <a:prstGeom prst="rightArrow">
            <a:avLst/>
          </a:prstGeom>
          <a:solidFill>
            <a:srgbClr val="D6E0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965960"/>
            <a:ext cx="1709928" cy="2450592"/>
          </a:xfrm>
          <a:prstGeom prst="roundRect">
            <a:avLst>
              <a:gd name="adj" fmla="val 5348"/>
            </a:avLst>
          </a:prstGeom>
          <a:solidFill>
            <a:srgbClr val="FBF3E6"/>
          </a:solidFill>
          <a:ln w="12700">
            <a:solidFill>
              <a:srgbClr val="FBF3E6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3188" y="2212848"/>
            <a:ext cx="438912" cy="438912"/>
          </a:xfrm>
          <a:prstGeom prst="ellipse">
            <a:avLst/>
          </a:prstGeom>
          <a:solidFill>
            <a:srgbClr val="D99A3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3188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276148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12724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만들지 제시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승인 게이트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12180" y="2999232"/>
            <a:ext cx="100584" cy="146304"/>
          </a:xfrm>
          <a:prstGeom prst="rightArrow">
            <a:avLst/>
          </a:prstGeom>
          <a:solidFill>
            <a:srgbClr val="D6E0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7336" y="1965960"/>
            <a:ext cx="1709928" cy="2450592"/>
          </a:xfrm>
          <a:prstGeom prst="roundRect">
            <a:avLst>
              <a:gd name="adj" fmla="val 5348"/>
            </a:avLst>
          </a:prstGeom>
          <a:solidFill>
            <a:srgbClr val="FBF3E6"/>
          </a:solidFill>
          <a:ln w="12700">
            <a:solidFill>
              <a:srgbClr val="FBF3E6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52844" y="2212848"/>
            <a:ext cx="438912" cy="438912"/>
          </a:xfrm>
          <a:prstGeom prst="ellipse">
            <a:avLst/>
          </a:prstGeom>
          <a:solidFill>
            <a:srgbClr val="D99A3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52844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08776" y="276148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분해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208776" y="312724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제시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승인 게이트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831836" y="2999232"/>
            <a:ext cx="100584" cy="146304"/>
          </a:xfrm>
          <a:prstGeom prst="rightArrow">
            <a:avLst/>
          </a:prstGeom>
          <a:solidFill>
            <a:srgbClr val="D6E0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36992" y="1965960"/>
            <a:ext cx="1709928" cy="2450592"/>
          </a:xfrm>
          <a:prstGeom prst="roundRect">
            <a:avLst>
              <a:gd name="adj" fmla="val 5348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72500" y="2212848"/>
            <a:ext cx="438912" cy="438912"/>
          </a:xfrm>
          <a:prstGeom prst="ellipse">
            <a:avLst/>
          </a:prstGeom>
          <a:solidFill>
            <a:srgbClr val="4E8A9B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7250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028432" y="276148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028432" y="312724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파일을 만들고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주소가 열린다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651492" y="2999232"/>
            <a:ext cx="100584" cy="146304"/>
          </a:xfrm>
          <a:prstGeom prst="rightArrow">
            <a:avLst/>
          </a:prstGeom>
          <a:solidFill>
            <a:srgbClr val="D6E0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56648" y="1965960"/>
            <a:ext cx="1709928" cy="2450592"/>
          </a:xfrm>
          <a:prstGeom prst="roundRect">
            <a:avLst>
              <a:gd name="adj" fmla="val 5348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392156" y="2212848"/>
            <a:ext cx="438912" cy="438912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392156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848088" y="276148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9848088" y="3127248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고치고 더한다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끝이 없다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58368" y="4773168"/>
            <a:ext cx="10874959" cy="1371600"/>
          </a:xfrm>
          <a:prstGeom prst="roundRect">
            <a:avLst>
              <a:gd name="adj" fmla="val 6667"/>
            </a:avLst>
          </a:prstGeom>
          <a:solidFill>
            <a:srgbClr val="EFF4F5"/>
          </a:solidFill>
          <a:ln w="12700">
            <a:solidFill>
              <a:srgbClr val="EFF4F5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1042416" y="5029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4E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승인 게이트 — 화면에서 버튼을 가리는 방식이 아닙니다.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042416" y="54132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명시적으로 승인하기 전까지 서버의 상태 전이 함수가 다음 단계를 돌려주지 않습니다. 확인하지 않고 넘어간 계획은 나중에 전부 다시 만들게 되기 때문입니다.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1945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비교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달라지는가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24328" y="1261872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F2E9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13448" y="1261872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0F27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52928" y="126187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바이브 코딩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242048" y="126187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SDVC 웹서비스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1874520" cy="914400"/>
          </a:xfrm>
          <a:prstGeom prst="roundRect">
            <a:avLst>
              <a:gd name="adj" fmla="val 6000"/>
            </a:avLst>
          </a:prstGeom>
          <a:solidFill>
            <a:srgbClr val="EFF4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8745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F4E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24328" y="1874520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BF6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13448" y="1874520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25496" y="1965960"/>
            <a:ext cx="3758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도구를 설치하고 배우는 데 첫 며칠. 대화창을 닫으면 진행 상황이 사라져 다시 설명해야 한다.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214616" y="1965960"/>
            <a:ext cx="3758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설치할 프로그램 0개. 브라우저만 있으면 시작하고, 창을 닫아도 그 자리에서 이어진다. 완성되는 즉시 주소가 열린다.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2916936"/>
            <a:ext cx="1874520" cy="914400"/>
          </a:xfrm>
          <a:prstGeom prst="roundRect">
            <a:avLst>
              <a:gd name="adj" fmla="val 6000"/>
            </a:avLst>
          </a:prstGeom>
          <a:solidFill>
            <a:srgbClr val="EFF4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91693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F4E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24328" y="2916936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BF6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13448" y="2916936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25496" y="3008376"/>
            <a:ext cx="3758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어디까지 했는지 사람이 기억한다. 잘못된 전제로 한참 간 뒤에야 되돌아간다.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14616" y="3008376"/>
            <a:ext cx="3758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서버가 단계를 들고 있고, 계획·작업 분해는 승인 없이 넘어가지 않는다. 애매한 점은 객관식 5문항으로 미리 없앤다.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3959352"/>
            <a:ext cx="1874520" cy="914400"/>
          </a:xfrm>
          <a:prstGeom prst="roundRect">
            <a:avLst>
              <a:gd name="adj" fmla="val 6000"/>
            </a:avLst>
          </a:prstGeom>
          <a:solidFill>
            <a:srgbClr val="EFF4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95935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F4E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정확성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624328" y="3959352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BF6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13448" y="3959352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25496" y="4050792"/>
            <a:ext cx="3758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"고쳤습니다"를 믿는 수밖에 없다. 실제로 반영됐는지는 직접 열어봐야 안다.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214616" y="4050792"/>
            <a:ext cx="3758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변화가 실제 파일에 반영됐는지 서버가 대조하고, 반영되지 않았으면 알린다. 버전마다 무엇이 바뀌었는지 남는다.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" y="5001768"/>
            <a:ext cx="1874520" cy="914400"/>
          </a:xfrm>
          <a:prstGeom prst="roundRect">
            <a:avLst>
              <a:gd name="adj" fmla="val 6000"/>
            </a:avLst>
          </a:prstGeom>
          <a:solidFill>
            <a:srgbClr val="EFF4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500176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F4E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624328" y="5001768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BF6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13448" y="5001768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25496" y="5093208"/>
            <a:ext cx="3758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만들고 나면 대화가 끝난다. 고치려면 맥락을 처음부터 다시 설명한다.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214616" y="5093208"/>
            <a:ext cx="3758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뒤에도 같은 대화가 무기한 열려 있다. 고칠 파일만 다시 나오고, 잘못되면 이전 시점으로 되돌린다.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61996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칸은 전부 현재 구현되어 동작하는 기능입니다. 계획이 아닙니다.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1945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— 준비에 쓰던 시간을 만드는 데 씁니다.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2624328" cy="2395728"/>
          </a:xfrm>
          <a:prstGeom prst="roundRect">
            <a:avLst>
              <a:gd name="adj" fmla="val 3817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r>
              <a:rPr lang="en-US" sz="180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1635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설치할 프로그램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82112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에디터도, 실행 환경도, 배포 도구도 필요 없습니다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38728" y="1645920"/>
            <a:ext cx="2624328" cy="2395728"/>
          </a:xfrm>
          <a:prstGeom prst="roundRect">
            <a:avLst>
              <a:gd name="adj" fmla="val 3817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94760" y="1938528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81635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가입에서 작업실까지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3182112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서비스가 지키기로 한 기준값입니다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19088" y="1645920"/>
            <a:ext cx="2624328" cy="2395728"/>
          </a:xfrm>
          <a:prstGeom prst="roundRect">
            <a:avLst>
              <a:gd name="adj" fmla="val 3817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675120" y="1938528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80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초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81635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응답이 시작되기까지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182112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한 글자씩 흘러나옵니다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99448" y="1645920"/>
            <a:ext cx="2624328" cy="2395728"/>
          </a:xfrm>
          <a:prstGeom prst="roundRect">
            <a:avLst>
              <a:gd name="adj" fmla="val 3817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555480" y="1938528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r>
              <a:rPr lang="en-US" sz="180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번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9555480" y="281635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작업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3182112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구현이 끝나는 즉시 주소가 열립니다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4315968"/>
            <a:ext cx="10874959" cy="1828800"/>
          </a:xfrm>
          <a:prstGeom prst="roundRect">
            <a:avLst>
              <a:gd name="adj" fmla="val 5000"/>
            </a:avLst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69848" y="462686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7FA9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중단이 손실이 되지 않습니다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069848" y="504748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C4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내용과 지금 몇 블록인지가 서버에 저장됩니다. 퇴근했다가 다음 날 들어와도, 다른 컴퓨터에서 열어도 그 자리에서 이어집니다. 맥락을 다시 설명하느라 쓰는 시간이 통째로 사라집니다.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1945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 — 되돌아가는 일이 줄어듭니다.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984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비싼 낭비는 다시 만드는 것입니다. 되돌아갈 지점을 앞으로 당겨 놓았습니다.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5303520" cy="1883664"/>
          </a:xfrm>
          <a:prstGeom prst="roundRect">
            <a:avLst>
              <a:gd name="adj" fmla="val 4854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9264" y="2194560"/>
            <a:ext cx="384048" cy="384048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94560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게이트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2724912"/>
            <a:ext cx="4681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계획과 작업 분해는 사용자가 승인해야만 다음으로 갑니다. 마음에 들 때까지 몇 번이고 다듬을 수 있고, 그 단계에서 고치는 비용이 가장 쌉니다.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81928" y="1901952"/>
            <a:ext cx="5303520" cy="1883664"/>
          </a:xfrm>
          <a:prstGeom prst="roundRect">
            <a:avLst>
              <a:gd name="adj" fmla="val 4854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2824" y="2194560"/>
            <a:ext cx="384048" cy="384048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2824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04888" y="2194560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명확화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92824" y="2724912"/>
            <a:ext cx="4681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애매한 지점을 최대 5개까지 추천 답과 함께 물어봅니다. 몰라도 고르기만 하면 됩니다 — 잘못된 가정이 코드까지 내려가지 않습니다.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096512"/>
            <a:ext cx="5303520" cy="1883664"/>
          </a:xfrm>
          <a:prstGeom prst="roundRect">
            <a:avLst>
              <a:gd name="adj" fmla="val 4854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9264" y="4389120"/>
            <a:ext cx="384048" cy="384048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389120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슬라이스 단위 제작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4919472"/>
            <a:ext cx="4681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덩어리가 끝날 때마다 알려 주고 눈으로 확인할 기회를 줍니다. 다 만든 뒤에 처음부터 다시 하는 일이 생기지 않습니다.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81928" y="4096512"/>
            <a:ext cx="5303520" cy="1883664"/>
          </a:xfrm>
          <a:prstGeom prst="roundRect">
            <a:avLst>
              <a:gd name="adj" fmla="val 4854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92824" y="4389120"/>
            <a:ext cx="384048" cy="384048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2824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04888" y="4389120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가능한 비용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92824" y="4919472"/>
            <a:ext cx="4681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한도를 넘으면 즉시 막히고 초과 요금은 청구되지 않습니다. 모르는 사이에 비용이 불어나지 않습니다.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1945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정확성 — "고쳤습니다"를 그대로 믿지 않습니다.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10874959" cy="1060704"/>
          </a:xfrm>
          <a:prstGeom prst="roundRect">
            <a:avLst>
              <a:gd name="adj" fmla="val 8621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847088"/>
            <a:ext cx="475488" cy="475488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173736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변화를 파일과 대조한다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212140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고쳤다고 답했는데 저장된 파일이 하나도 바뀌지 않았거나 이전과 똑같으면, 서버가 사용자에게 알립니다. 조용히 넘어가지 않습니다.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2743200"/>
            <a:ext cx="10874959" cy="1060704"/>
          </a:xfrm>
          <a:prstGeom prst="roundRect">
            <a:avLst>
              <a:gd name="adj" fmla="val 8621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035808"/>
            <a:ext cx="475488" cy="475488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64208" y="292608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배포된 파일을 AI에게 준다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3101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 요청마다 실제로 서비스되고 있는 파일 내용을 함께 싣습니다. "현재 내용을 붙여넣어 달라"고 되묻지 않고, 없는 버전을 고치지도 않습니다.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3931920"/>
            <a:ext cx="10874959" cy="1060704"/>
          </a:xfrm>
          <a:prstGeom prst="roundRect">
            <a:avLst>
              <a:gd name="adj" fmla="val 8621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224528"/>
            <a:ext cx="475488" cy="475488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224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64208" y="411480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되돌린 뒤 옛 상태가 되살아나지 않는다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64208" y="449884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되돌린 사실을 대화에 한 턴으로 남깁니다. 긴 대화 기록이 방금의 되돌리기를 덮어쓰지 못하게 하는 장치입니다.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5257800"/>
            <a:ext cx="10874959" cy="914400"/>
          </a:xfrm>
          <a:prstGeom prst="roundRect">
            <a:avLst>
              <a:gd name="adj" fmla="val 10000"/>
            </a:avLst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42416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세 가지는 기획서에서 나온 것이 아니라 실제로 겪은 결함에서 나왔습니다.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1945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 — 만든 다음부터가 진짜입니다.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984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대부분의 도구는 "완성"에서 멈춥니다. 실제 비용은 그 뒤에 발생합니다.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440680" cy="1901952"/>
          </a:xfrm>
          <a:prstGeom prst="roundRect">
            <a:avLst>
              <a:gd name="adj" fmla="val 4808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9264" y="2194560"/>
            <a:ext cx="402336" cy="402336"/>
          </a:xfrm>
          <a:prstGeom prst="ellipse">
            <a:avLst/>
          </a:prstGeom>
          <a:solidFill>
            <a:srgbClr val="4E8A9B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945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대화가 끝나지 않는다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2743200"/>
            <a:ext cx="4818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구현을 마쳐도 같은 대화가 유지보수 상태로 무기한 열려 있습니다. 맥락을 다시 설명할 일이 없습니다.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4041648"/>
            <a:ext cx="5440680" cy="1901952"/>
          </a:xfrm>
          <a:prstGeom prst="roundRect">
            <a:avLst>
              <a:gd name="adj" fmla="val 4808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9264" y="4315968"/>
            <a:ext cx="402336" cy="402336"/>
          </a:xfrm>
          <a:prstGeom prst="ellipse">
            <a:avLst/>
          </a:prstGeom>
          <a:solidFill>
            <a:srgbClr val="4E8A9B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9264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43159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파일만 다시 나온다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4864608"/>
            <a:ext cx="4818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다시 만들지 않습니다. 손대지 않은 파일은 그대로 남아, 방금 넣은 사진이 사라지는 일이 없습니다.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19088" y="1920240"/>
            <a:ext cx="5440680" cy="1901952"/>
          </a:xfrm>
          <a:prstGeom prst="roundRect">
            <a:avLst>
              <a:gd name="adj" fmla="val 4808"/>
            </a:avLst>
          </a:prstGeom>
          <a:solidFill>
            <a:srgbClr val="EFF4F5"/>
          </a:solidFill>
          <a:ln w="12700">
            <a:solidFill>
              <a:srgbClr val="EFF4F5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29984" y="2194560"/>
            <a:ext cx="402336" cy="402336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9984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42048" y="21945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20개 시점으로 되돌리기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729984" y="2743200"/>
            <a:ext cx="4818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발행할 때마다 그 시점 전부를 사본으로 남깁니다. 목록에는 시각과 그때 무엇을 요청했는지가 함께 나옵니다.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19088" y="4041648"/>
            <a:ext cx="5440680" cy="1901952"/>
          </a:xfrm>
          <a:prstGeom prst="roundRect">
            <a:avLst>
              <a:gd name="adj" fmla="val 4808"/>
            </a:avLst>
          </a:prstGeom>
          <a:solidFill>
            <a:srgbClr val="EFF4F5"/>
          </a:solidFill>
          <a:ln w="12700">
            <a:solidFill>
              <a:srgbClr val="EFF4F5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9984" y="4315968"/>
            <a:ext cx="402336" cy="402336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9984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42048" y="43159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되돌리기를 다시 되돌릴 수 있다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6729984" y="4864608"/>
            <a:ext cx="4818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되돌린 결과도 새 버전으로 남습니다. 그리고 대화 기록은 지우지 않습니다 — 왜 바꿨는지가 사라지면 같은 실수를 반복합니다.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61996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 기능을 파는 이상 되돌리기는 반드시 짝으로 있어야 한다 — 설계 단계에서 내린 판단입니다.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1841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A9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 증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만들었다고 말하지 않고, 돌려 보고 말합니다.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2624328" cy="2084832"/>
          </a:xfrm>
          <a:prstGeom prst="roundRect">
            <a:avLst>
              <a:gd name="adj" fmla="val 4386"/>
            </a:avLst>
          </a:prstGeom>
          <a:solidFill>
            <a:srgbClr val="1841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1214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pPr indent="0" marL="0">
              <a:buNone/>
            </a:pPr>
            <a:r>
              <a:rPr lang="en-US" sz="1500" b="1" dirty="0">
                <a:solidFill>
                  <a:srgbClr val="7FA9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 작업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6265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C4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0~8을 작업 단위로 쪼개 하나씩 완료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38728" y="1874520"/>
            <a:ext cx="2624328" cy="2084832"/>
          </a:xfrm>
          <a:prstGeom prst="roundRect">
            <a:avLst>
              <a:gd name="adj" fmla="val 4386"/>
            </a:avLst>
          </a:prstGeom>
          <a:solidFill>
            <a:srgbClr val="1841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76472" y="21214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</a:t>
            </a:r>
            <a:pPr indent="0" marL="0">
              <a:buNone/>
            </a:pPr>
            <a:r>
              <a:rPr lang="en-US" sz="1500" b="1" dirty="0">
                <a:solidFill>
                  <a:srgbClr val="7FA9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여 건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3776472" y="296265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C4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단위 검사 (71개 파일)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19088" y="1874520"/>
            <a:ext cx="2624328" cy="2084832"/>
          </a:xfrm>
          <a:prstGeom prst="roundRect">
            <a:avLst>
              <a:gd name="adj" fmla="val 4386"/>
            </a:avLst>
          </a:prstGeom>
          <a:solidFill>
            <a:srgbClr val="1841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56832" y="21214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pPr indent="0" marL="0">
              <a:buNone/>
            </a:pPr>
            <a:r>
              <a:rPr lang="en-US" sz="1500" b="1" dirty="0">
                <a:solidFill>
                  <a:srgbClr val="7FA9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296265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C4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브라우저로 도는 시나리오 검사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99448" y="1874520"/>
            <a:ext cx="2624328" cy="2084832"/>
          </a:xfrm>
          <a:prstGeom prst="roundRect">
            <a:avLst>
              <a:gd name="adj" fmla="val 4386"/>
            </a:avLst>
          </a:prstGeom>
          <a:solidFill>
            <a:srgbClr val="1841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37192" y="21214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pPr indent="0" marL="0">
              <a:buNone/>
            </a:pPr>
            <a:r>
              <a:rPr lang="en-US" sz="1500" b="1" dirty="0">
                <a:solidFill>
                  <a:srgbClr val="7FA9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건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9537192" y="296265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C4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 발견한 결함 접수 · 19건 처리 완료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4261104"/>
            <a:ext cx="10874959" cy="1883664"/>
          </a:xfrm>
          <a:prstGeom prst="roundRect">
            <a:avLst>
              <a:gd name="adj" fmla="val 4854"/>
            </a:avLst>
          </a:prstGeom>
          <a:solidFill>
            <a:srgbClr val="16353F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9848" y="453542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구간 실주행 — 수강생 한 명 몫을 처음부터 끝까지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" y="4956048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EC4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→ 6블록 전체를 실제 AI 호출로 완주 → 사이트 렌더링·모바일 확인 → 사진 첨부 반영 → 되돌리기 → 공개범위 전환 → 신고 접수 → 운영자 처리 → 신고자가 답변 확인. 이 과정에서 결함 4건을 찾아 3건을 즉시 고쳤습니다.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1945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체계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사람을 받기 전에 갖춰야 할 것을 먼저 갖췄습니다.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984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산출물이 우리 도메인에서 서비스되는 이상, 운영 수단은 기능이 아니라 요건입니다.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9264" y="2194560"/>
            <a:ext cx="402336" cy="402336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94560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 기록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2743200"/>
            <a:ext cx="4681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관리자가 무엇을 바꿨는지뿐 아니라 무엇을 열어 봤는지까지 남깁니다. 권한이 없어 거부된 시도도 기록됩니다.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81928" y="1901952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2824" y="2194560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2824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104888" y="2194560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 차단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92824" y="2743200"/>
            <a:ext cx="4681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되는 산출물이나 계정을 즉시 가립니다. 지우지 않고 가립니다 — 오판이면 되돌리고, 분쟁이면 증거가 남습니다.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133088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9264" y="4425696"/>
            <a:ext cx="402336" cy="402336"/>
          </a:xfrm>
          <a:prstGeom prst="ellipse">
            <a:avLst/>
          </a:prstGeom>
          <a:solidFill>
            <a:srgbClr val="4E8A9B"/>
          </a:solidFill>
          <a:ln w="12700">
            <a:solidFill>
              <a:srgbClr val="4E8A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425696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등급·한도 관리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4974336"/>
            <a:ext cx="4681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계정마다 등급을 기간을 정해 부여하고, 월 사용 한도를 따로 걸 수 있습니다. 한 사람의 폭주가 전체를 삼키지 않습니다.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81928" y="4133088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92824" y="4425696"/>
            <a:ext cx="402336" cy="402336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2824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04888" y="4425696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 대시보드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92824" y="4974336"/>
            <a:ext cx="4681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 원가·매출·마진과 요금 대비 원가 비율을 상시 확인합니다. 적자 구조를 늦게 아는 일이 없습니다.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1945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구성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것만 씁니다. 그리고 범위를 좁혔습니다.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17904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68249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화면·서버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3852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· TypeScript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04288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화면과 서버 기능이 한 프로젝트·한 언어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1517904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168249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인증·DB·저장소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93852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(서울 리전)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304288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로그인·데이터·파일을 한 서비스에서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6448" y="1517904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12480" y="168249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193852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Anthropic Claude API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304288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서버가 직접 호출합니다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3054096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3218688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47472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840480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 올리면 자동 배포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07408" y="3054096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663440" y="3218688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47472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Stripe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840480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정보를 우리 서버가 만지지 않습니다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6448" y="3054096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0" y="3218688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347472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Vitest · Playwright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3840480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검사와 실제 브라우저 검사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" y="4498848"/>
            <a:ext cx="10874959" cy="1645920"/>
          </a:xfrm>
          <a:prstGeom prst="roundRect">
            <a:avLst>
              <a:gd name="adj" fmla="val 5556"/>
            </a:avLst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69848" y="473659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7FA9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범위를 좁혀 신뢰도를 샀습니다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1069848" y="51389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C4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만들어지는 것은 정적 사이트(HTML·CSS·JS)입니다. 서버 로직이 필요한 웹앱은 범위 밖으로 두었습니다. "무엇이든 만들어 드립니다"보다 "이 범위는 확실히 됩니다"가 교육과 초기 사업 모두에 낫다고 판단했습니다.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1945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상태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어디까지 왔고, 무엇이 남았는가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17904"/>
            <a:ext cx="1709928" cy="1874520"/>
          </a:xfrm>
          <a:prstGeom prst="roundRect">
            <a:avLst>
              <a:gd name="adj" fmla="val 5348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7190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0–1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029968"/>
            <a:ext cx="1490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· 명세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165860" y="2889504"/>
            <a:ext cx="694944" cy="274320"/>
          </a:xfrm>
          <a:prstGeom prst="roundRect">
            <a:avLst>
              <a:gd name="adj" fmla="val 26667"/>
            </a:avLst>
          </a:prstGeom>
          <a:solidFill>
            <a:srgbClr val="7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65860" y="288950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78024" y="1517904"/>
            <a:ext cx="1709928" cy="1874520"/>
          </a:xfrm>
          <a:prstGeom prst="roundRect">
            <a:avLst>
              <a:gd name="adj" fmla="val 5348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24328" y="17190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2–5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587752" y="2029968"/>
            <a:ext cx="1490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· 엔진 · 저장 · 서빙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85516" y="2889504"/>
            <a:ext cx="694944" cy="274320"/>
          </a:xfrm>
          <a:prstGeom prst="roundRect">
            <a:avLst>
              <a:gd name="adj" fmla="val 26667"/>
            </a:avLst>
          </a:prstGeom>
          <a:solidFill>
            <a:srgbClr val="7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85516" y="288950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517904"/>
            <a:ext cx="1709928" cy="1874520"/>
          </a:xfrm>
          <a:prstGeom prst="roundRect">
            <a:avLst>
              <a:gd name="adj" fmla="val 5348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443984" y="17190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6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2029968"/>
            <a:ext cx="1490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· 등급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05172" y="2889504"/>
            <a:ext cx="694944" cy="274320"/>
          </a:xfrm>
          <a:prstGeom prst="roundRect">
            <a:avLst>
              <a:gd name="adj" fmla="val 26667"/>
            </a:avLst>
          </a:prstGeom>
          <a:solidFill>
            <a:srgbClr val="7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5172" y="288950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17336" y="1517904"/>
            <a:ext cx="1709928" cy="1874520"/>
          </a:xfrm>
          <a:prstGeom prst="roundRect">
            <a:avLst>
              <a:gd name="adj" fmla="val 5348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63640" y="17190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7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227064" y="2029968"/>
            <a:ext cx="1490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 · 되돌리기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4828" y="2889504"/>
            <a:ext cx="694944" cy="274320"/>
          </a:xfrm>
          <a:prstGeom prst="roundRect">
            <a:avLst>
              <a:gd name="adj" fmla="val 26667"/>
            </a:avLst>
          </a:prstGeom>
          <a:solidFill>
            <a:srgbClr val="7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4828" y="288950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36992" y="1517904"/>
            <a:ext cx="1709928" cy="1874520"/>
          </a:xfrm>
          <a:prstGeom prst="roundRect">
            <a:avLst>
              <a:gd name="adj" fmla="val 5348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083296" y="17190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8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029968"/>
            <a:ext cx="1490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콘솔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44484" y="2889504"/>
            <a:ext cx="694944" cy="274320"/>
          </a:xfrm>
          <a:prstGeom prst="roundRect">
            <a:avLst>
              <a:gd name="adj" fmla="val 26667"/>
            </a:avLst>
          </a:prstGeom>
          <a:solidFill>
            <a:srgbClr val="7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44484" y="288950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56648" y="1517904"/>
            <a:ext cx="1709928" cy="1874520"/>
          </a:xfrm>
          <a:prstGeom prst="roundRect">
            <a:avLst>
              <a:gd name="adj" fmla="val 5348"/>
            </a:avLst>
          </a:prstGeom>
          <a:solidFill>
            <a:srgbClr val="FBF3E6"/>
          </a:solidFill>
          <a:ln w="12700">
            <a:solidFill>
              <a:srgbClr val="FBF3E6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902952" y="17190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10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866376" y="2029968"/>
            <a:ext cx="1490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출시 준비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264140" y="2889504"/>
            <a:ext cx="694944" cy="274320"/>
          </a:xfrm>
          <a:prstGeom prst="roundRect">
            <a:avLst>
              <a:gd name="adj" fmla="val 26667"/>
            </a:avLst>
          </a:prstGeom>
          <a:solidFill>
            <a:srgbClr val="D99A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264140" y="288950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" y="3730752"/>
            <a:ext cx="5440680" cy="2395728"/>
          </a:xfrm>
          <a:prstGeom prst="roundRect">
            <a:avLst>
              <a:gd name="adj" fmla="val 3817"/>
            </a:avLst>
          </a:prstGeom>
          <a:solidFill>
            <a:srgbClr val="EFF4F5"/>
          </a:solidFill>
          <a:ln w="12700">
            <a:solidFill>
              <a:srgbClr val="EFF4F5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1005840" y="39684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F4E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하고 있는 것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1042416" y="4544568"/>
            <a:ext cx="100584" cy="100584"/>
          </a:xfrm>
          <a:prstGeom prst="ellipse">
            <a:avLst/>
          </a:prstGeom>
          <a:solidFill>
            <a:srgbClr val="1F4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280160" y="44622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과정에서 수강생이 직접 실습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42416" y="5056632"/>
            <a:ext cx="100584" cy="100584"/>
          </a:xfrm>
          <a:prstGeom prst="ellipse">
            <a:avLst/>
          </a:prstGeom>
          <a:solidFill>
            <a:srgbClr val="1F4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280160" y="49743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운영자가 계정마다 등급을 기간제로 부여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42416" y="5568696"/>
            <a:ext cx="100584" cy="100584"/>
          </a:xfrm>
          <a:prstGeom prst="ellipse">
            <a:avLst/>
          </a:prstGeom>
          <a:solidFill>
            <a:srgbClr val="1F4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280160" y="54864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 발견한 것을 접수해 차례로 처리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19088" y="3730752"/>
            <a:ext cx="5440680" cy="2395728"/>
          </a:xfrm>
          <a:prstGeom prst="roundRect">
            <a:avLst>
              <a:gd name="adj" fmla="val 3817"/>
            </a:avLst>
          </a:prstGeom>
          <a:solidFill>
            <a:srgbClr val="FBF3E6"/>
          </a:solidFill>
          <a:ln w="12700">
            <a:solidFill>
              <a:srgbClr val="FBF3E6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766560" y="39684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8A65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전환에 필요한 것</a:t>
            </a:r>
            <a:endParaRPr lang="en-US" sz="1550" dirty="0"/>
          </a:p>
        </p:txBody>
      </p:sp>
      <p:sp>
        <p:nvSpPr>
          <p:cNvPr id="44" name="Shape 42"/>
          <p:cNvSpPr/>
          <p:nvPr/>
        </p:nvSpPr>
        <p:spPr>
          <a:xfrm>
            <a:off x="6803136" y="4544568"/>
            <a:ext cx="100584" cy="100584"/>
          </a:xfrm>
          <a:prstGeom prst="ellipse">
            <a:avLst/>
          </a:prstGeom>
          <a:solidFill>
            <a:srgbClr val="D99A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040880" y="44622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사업자등록 · 통신판매업 신고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03136" y="5056632"/>
            <a:ext cx="100584" cy="100584"/>
          </a:xfrm>
          <a:prstGeom prst="ellipse">
            <a:avLst/>
          </a:prstGeom>
          <a:solidFill>
            <a:srgbClr val="D99A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40880" y="49743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결제 계정 개설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03136" y="5568696"/>
            <a:ext cx="100584" cy="100584"/>
          </a:xfrm>
          <a:prstGeom prst="ellipse">
            <a:avLst/>
          </a:prstGeom>
          <a:solidFill>
            <a:srgbClr val="D99A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040880" y="54864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정식 도메인 · 이용약관 · 환불정책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1945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8A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맞는가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분들께 맞습니다. 그리고 이런 경우는 아직 아닙니다.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440680" cy="4261104"/>
          </a:xfrm>
          <a:prstGeom prst="roundRect">
            <a:avLst>
              <a:gd name="adj" fmla="val 2146"/>
            </a:avLst>
          </a:prstGeom>
          <a:solidFill>
            <a:srgbClr val="F7F9F9"/>
          </a:solidFill>
          <a:ln w="12700">
            <a:solidFill>
              <a:srgbClr val="F7F9F9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24128" y="18470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F4E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분들께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42416" y="2414016"/>
            <a:ext cx="274320" cy="274320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2416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3957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코딩을 배우지 않고 결과물을 내야 하는 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42416" y="3090672"/>
            <a:ext cx="274320" cy="274320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416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444752" y="30723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만들어 봤지만 고치는 데서 막혔던 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42416" y="3767328"/>
            <a:ext cx="274320" cy="274320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2416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444752" y="3749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소개·안내·포트폴리오 페이지가 필요한 소상공인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42416" y="4443984"/>
            <a:ext cx="274320" cy="274320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2416" y="4443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444752" y="44256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결과를 주소로 제출받아야 하는 교육기관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42416" y="5120640"/>
            <a:ext cx="274320" cy="274320"/>
          </a:xfrm>
          <a:prstGeom prst="ellipse">
            <a:avLst/>
          </a:prstGeom>
          <a:solidFill>
            <a:srgbClr val="7FA98C"/>
          </a:solidFill>
          <a:ln w="12700">
            <a:solidFill>
              <a:srgbClr val="7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42416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444752" y="51023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절차를 몸으로 익히려는 예비 창업자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19088" y="1572768"/>
            <a:ext cx="5440680" cy="4261104"/>
          </a:xfrm>
          <a:prstGeom prst="roundRect">
            <a:avLst>
              <a:gd name="adj" fmla="val 2146"/>
            </a:avLst>
          </a:prstGeom>
          <a:solidFill>
            <a:srgbClr val="FBF6F5"/>
          </a:solidFill>
          <a:ln w="12700">
            <a:solidFill>
              <a:srgbClr val="FBF6F5"/>
            </a:solidFill>
            <a:prstDash val="solid"/>
          </a:ln>
          <a:effectLst>
            <a:outerShdw sx="100000" sy="100000" kx="0" ky="0" algn="bl" rotWithShape="0" blurRad="127000" dist="25400" dir="5400000">
              <a:srgbClr val="5E7079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784848" y="18470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아닌 경우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803136" y="2414016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03136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205472" y="23957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회원가입·로그인이 필요한 사이트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03136" y="3090672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03136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205472" y="30723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게시판처럼 방문자가 글을 남기는 기능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03136" y="3767328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03136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205472" y="3749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예약·주문·결제를 처리하는 기능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03136" y="4443984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03136" y="4443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205472" y="44256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앱 (반응형 웹만 제공합니다)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03136" y="5120640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03136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205472" y="51023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7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명이 한 프로젝트를 공유하는 팀 작업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61996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0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하는 것을 먼저 밝히는 편이 서로의 시간을 아낍니다.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572000" cy="4572000"/>
          </a:xfrm>
          <a:prstGeom prst="ellipse">
            <a:avLst/>
          </a:prstGeom>
          <a:solidFill>
            <a:srgbClr val="1841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3566160"/>
            <a:ext cx="2743200" cy="274320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7373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없이.  절차대로.  끝까지.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BFD2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맡기되 절차는 지키게 하는 것 — SDVC 웹서비스가 파는 것은 속도가 아니라 그 절차입니다.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3703320"/>
            <a:ext cx="2011680" cy="0"/>
          </a:xfrm>
          <a:prstGeom prst="line">
            <a:avLst/>
          </a:prstGeom>
          <a:noFill/>
          <a:ln w="25400">
            <a:solidFill>
              <a:srgbClr val="4E8A9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40233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A9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주소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04288" y="40233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sdvc-app.vercel.app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498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A9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운영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04288" y="44988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과정으로 제공 (수강생 실습용 계정 발급)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9743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A9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497433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과정·시연·협업 문의를 받고 있습니다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SDVC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SDVC 웹서비스 소개</dc:title>
  <dc:subject>PptxGenJS Presentation</dc:subject>
  <dc:creator>SDVC</dc:creator>
  <cp:lastModifiedBy>SDVC</cp:lastModifiedBy>
  <cp:revision>1</cp:revision>
  <dcterms:created xsi:type="dcterms:W3CDTF">2026-09-13T08:26:26Z</dcterms:created>
  <dcterms:modified xsi:type="dcterms:W3CDTF">2026-09-13T08:26:26Z</dcterms:modified>
</cp:coreProperties>
</file>